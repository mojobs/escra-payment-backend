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e4348430cf4e67" /><Relationship Type="http://schemas.openxmlformats.org/officeDocument/2006/relationships/extended-properties" Target="/docProps/app.xml" Id="R77a0ad1cc4e043b8" /><Relationship Type="http://schemas.openxmlformats.org/officeDocument/2006/relationships/officeDocument" Target="/ppt/presentation.xml" Id="R2992a43ad2e647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67d4bda65b439d"/>
  </p:sldMasterIdLst>
  <p:notesMasterIdLst>
    <p:notesMasterId xmlns:r="http://schemas.openxmlformats.org/officeDocument/2006/relationships" r:id="R41939965e8434c9b"/>
  </p:notesMasterIdLst>
  <p:sldIdLst>
    <p:sldId xmlns:r="http://schemas.openxmlformats.org/officeDocument/2006/relationships" id="256" r:id="R8dceccef3c014828"/>
    <p:sldId xmlns:r="http://schemas.openxmlformats.org/officeDocument/2006/relationships" id="257" r:id="R99e87c5736534c4f"/>
    <p:sldId xmlns:r="http://schemas.openxmlformats.org/officeDocument/2006/relationships" id="258" r:id="Rba39d98c072c48ef"/>
    <p:sldId xmlns:r="http://schemas.openxmlformats.org/officeDocument/2006/relationships" id="259" r:id="R71ade2fba82348fd"/>
    <p:sldId xmlns:r="http://schemas.openxmlformats.org/officeDocument/2006/relationships" id="260" r:id="Rfef20c27647b4179"/>
    <p:sldId xmlns:r="http://schemas.openxmlformats.org/officeDocument/2006/relationships" id="261" r:id="Rfd77ddcd68734899"/>
    <p:sldId xmlns:r="http://schemas.openxmlformats.org/officeDocument/2006/relationships" id="262" r:id="R5f21792a37984c92"/>
    <p:sldId xmlns:r="http://schemas.openxmlformats.org/officeDocument/2006/relationships" id="263" r:id="R01ff1f9bccda4cea"/>
    <p:sldId xmlns:r="http://schemas.openxmlformats.org/officeDocument/2006/relationships" id="264" r:id="R1f0f5dc7df754dba"/>
    <p:sldId xmlns:r="http://schemas.openxmlformats.org/officeDocument/2006/relationships" id="265" r:id="Rb01e2bcc637946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691b335ec401c" /><Relationship Type="http://schemas.openxmlformats.org/officeDocument/2006/relationships/slideMaster" Target="/ppt/slideMasters/slideMaster1.xml" Id="R1067d4bda65b439d" /><Relationship Type="http://schemas.openxmlformats.org/officeDocument/2006/relationships/notesMaster" Target="/ppt/notesMasters/notesMaster1.xml" Id="R41939965e8434c9b" /><Relationship Type="http://schemas.openxmlformats.org/officeDocument/2006/relationships/presProps" Target="/ppt/presProps.xml" Id="R4b12d16a43124f02" /><Relationship Type="http://schemas.openxmlformats.org/officeDocument/2006/relationships/viewProps" Target="/ppt/viewProps.xml" Id="R8d611b1739084278" /><Relationship Type="http://schemas.openxmlformats.org/officeDocument/2006/relationships/tableStyles" Target="/ppt/tableStyles.xml" Id="Rf4d4b485f10a4054" /><Relationship Type="http://schemas.openxmlformats.org/officeDocument/2006/relationships/slide" Target="/ppt/slides/slide1.xml" Id="R8dceccef3c014828" /><Relationship Type="http://schemas.openxmlformats.org/officeDocument/2006/relationships/slide" Target="/ppt/slides/slide2.xml" Id="R99e87c5736534c4f" /><Relationship Type="http://schemas.openxmlformats.org/officeDocument/2006/relationships/slide" Target="/ppt/slides/slide3.xml" Id="Rba39d98c072c48ef" /><Relationship Type="http://schemas.openxmlformats.org/officeDocument/2006/relationships/slide" Target="/ppt/slides/slide4.xml" Id="R71ade2fba82348fd" /><Relationship Type="http://schemas.openxmlformats.org/officeDocument/2006/relationships/slide" Target="/ppt/slides/slide5.xml" Id="Rfef20c27647b4179" /><Relationship Type="http://schemas.openxmlformats.org/officeDocument/2006/relationships/slide" Target="/ppt/slides/slide6.xml" Id="Rfd77ddcd68734899" /><Relationship Type="http://schemas.openxmlformats.org/officeDocument/2006/relationships/slide" Target="/ppt/slides/slide7.xml" Id="R5f21792a37984c92" /><Relationship Type="http://schemas.openxmlformats.org/officeDocument/2006/relationships/slide" Target="/ppt/slides/slide8.xml" Id="R01ff1f9bccda4cea" /><Relationship Type="http://schemas.openxmlformats.org/officeDocument/2006/relationships/slide" Target="/ppt/slides/slide9.xml" Id="R1f0f5dc7df754dba" /><Relationship Type="http://schemas.openxmlformats.org/officeDocument/2006/relationships/slide" Target="/ppt/slides/slide10.xml" Id="Rb01e2bcc637946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644ebc35eb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6309c3f5d64879" /><Relationship Type="http://schemas.openxmlformats.org/officeDocument/2006/relationships/notesMaster" Target="/ppt/notesMasters/notesMaster1.xml" Id="Rde95ea8a38d94e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014428fcd4983" /><Relationship Type="http://schemas.openxmlformats.org/officeDocument/2006/relationships/notesMaster" Target="/ppt/notesMasters/notesMaster1.xml" Id="Rc379ea0957024f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f429f9ea274c7e" /><Relationship Type="http://schemas.openxmlformats.org/officeDocument/2006/relationships/notesMaster" Target="/ppt/notesMasters/notesMaster1.xml" Id="Rf184555ce0aa44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60214886ba4296" /><Relationship Type="http://schemas.openxmlformats.org/officeDocument/2006/relationships/notesMaster" Target="/ppt/notesMasters/notesMaster1.xml" Id="R9ed5b0b42ea4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f476ae05a845dd" /><Relationship Type="http://schemas.openxmlformats.org/officeDocument/2006/relationships/notesMaster" Target="/ppt/notesMasters/notesMaster1.xml" Id="Rdb92f4abe04345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4f100830054902" /><Relationship Type="http://schemas.openxmlformats.org/officeDocument/2006/relationships/notesMaster" Target="/ppt/notesMasters/notesMaster1.xml" Id="Rc549fc2b90864c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0c2bcc26a8487a" /><Relationship Type="http://schemas.openxmlformats.org/officeDocument/2006/relationships/notesMaster" Target="/ppt/notesMasters/notesMaster1.xml" Id="R32112b0e09a341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e67b0799994aca" /><Relationship Type="http://schemas.openxmlformats.org/officeDocument/2006/relationships/notesMaster" Target="/ppt/notesMasters/notesMaster1.xml" Id="R1aed35df5fa146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d6551768794533" /><Relationship Type="http://schemas.openxmlformats.org/officeDocument/2006/relationships/notesMaster" Target="/ppt/notesMasters/notesMaster1.xml" Id="Re42524cc35bc40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6c6348a9694dc0" /><Relationship Type="http://schemas.openxmlformats.org/officeDocument/2006/relationships/notesMaster" Target="/ppt/notesMasters/notesMaster1.xml" Id="Re8cb2f23939647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431bf5f204b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ea6dbef03d4795" /><Relationship Type="http://schemas.openxmlformats.org/officeDocument/2006/relationships/slideLayout" Target="/ppt/slideLayouts/slideLayout1.xml" Id="R2df6c2d374a54a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6c2d374a54a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002fceb514d14" /><Relationship Type="http://schemas.openxmlformats.org/officeDocument/2006/relationships/notesSlide" Target="/ppt/notesSlides/notesSlide1.xml" Id="Rbab17ff34f2946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c9ba5a8854787" /><Relationship Type="http://schemas.openxmlformats.org/officeDocument/2006/relationships/notesSlide" Target="/ppt/notesSlides/notesSlide2.xml" Id="R4fb9d95dadf648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632b769b34edb" /><Relationship Type="http://schemas.openxmlformats.org/officeDocument/2006/relationships/notesSlide" Target="/ppt/notesSlides/notesSlide3.xml" Id="Rd5ff7e0ea3bb4c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f8fa516fa42d6" /><Relationship Type="http://schemas.openxmlformats.org/officeDocument/2006/relationships/notesSlide" Target="/ppt/notesSlides/notesSlide4.xml" Id="R56bd8c9100394b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fa880f5744280" /><Relationship Type="http://schemas.openxmlformats.org/officeDocument/2006/relationships/notesSlide" Target="/ppt/notesSlides/notesSlide5.xml" Id="R20b646c6888442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85229bbf24638" /><Relationship Type="http://schemas.openxmlformats.org/officeDocument/2006/relationships/notesSlide" Target="/ppt/notesSlides/notesSlide6.xml" Id="Rb4085652411b44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014b2c1d34d28" /><Relationship Type="http://schemas.openxmlformats.org/officeDocument/2006/relationships/notesSlide" Target="/ppt/notesSlides/notesSlide7.xml" Id="R248d35e0218f4b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b032b25614f68" /><Relationship Type="http://schemas.openxmlformats.org/officeDocument/2006/relationships/notesSlide" Target="/ppt/notesSlides/notesSlide8.xml" Id="Rcf0a2650eefc49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f20f8d97a4b3d" /><Relationship Type="http://schemas.openxmlformats.org/officeDocument/2006/relationships/notesSlide" Target="/ppt/notesSlides/notesSlide9.xml" Id="R2e14c4ffc78449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5b3821c5842cb" /><Relationship Type="http://schemas.openxmlformats.org/officeDocument/2006/relationships/notesSlide" Target="/ppt/notesSlides/notesSlide10.xml" Id="R13a645071bae4b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E1AE3-C9A5-49B0-8B20-2683D0E5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2A0A03-3CA5-4A32-92A5-2C697190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B0624C-E452-41BB-9398-64A82E96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HCI DESIGN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C2AB0-14D8-4B08-80AF-B36460C4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ModelMe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48BCB-F719-4AD5-9FBE-A2358A85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A private avatar-based fashion fitting 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DC3A6-9202-43A0-94A9-26C91E0F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819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9525">
            <a:solidFill>
              <a:srgbClr val="1714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AD030-0E1A-4485-9DA0-D962EA8E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Try it on, before it ships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7AF91-5E69-4E66-9380-EABA5075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095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A clean presentation distilled from the full project report: problem, research, product concept, prototype logic, evaluation, and next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2674C-E892-4713-B85D-3B388830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20F95-56AD-41F4-B598-3E03F9D7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core prototype flow described in the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C0AB8-3BAE-4C68-9207-82B5B0E1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62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A8AB1-47C0-4F12-821B-0F433DD0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625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focused navigation 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67304-6B4A-45CF-A850-A89C2B61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62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avatar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1AC6F-0991-45BD-BE07-4A980F7A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625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selected product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1722E-F4B5-4BDE-8CBA-A38BBDBF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76300"/>
            <a:ext cx="2800350" cy="48006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52B42-9054-40FA-BEE9-B56F5A50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028700"/>
            <a:ext cx="2533650" cy="44958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C71DF-E58D-4490-B419-2A388413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262" y="962025"/>
            <a:ext cx="616077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322D"/>
          </a:solidFill>
          <a:ln xmlns:a="http://schemas.openxmlformats.org/drawingml/2006/main" w="0">
            <a:solidFill>
              <a:srgbClr val="3B32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2415A-4A77-4197-A7D3-193B898F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251" y="5467350"/>
            <a:ext cx="784098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D6CA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9A045-7E73-4325-8819-DB268172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52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MODELME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EBD91-AAD9-40EB-8D97-011504FE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Here is you.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B893A-9A42-4451-AFB7-75AE32DD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885" y="2266950"/>
            <a:ext cx="403098" cy="403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1AF46-621F-437A-AB24-878A7DDE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914" y="2766441"/>
            <a:ext cx="718566" cy="1244346"/>
          </a:xfrm>
          <a:prstGeom xmlns:a="http://schemas.openxmlformats.org/drawingml/2006/main" prst="roundRect">
            <a:avLst>
              <a:gd name="adj" fmla="val 10604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7DFD8-8D2E-4710-9FEE-73A417E6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8510"/>
            <a:ext cx="1209294" cy="12268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3FB07-A02B-41D2-80F1-FD548247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862" y="4002024"/>
            <a:ext cx="297942" cy="771144"/>
          </a:xfrm>
          <a:prstGeom xmlns:a="http://schemas.openxmlformats.org/drawingml/2006/main" prst="roundRect">
            <a:avLst>
              <a:gd name="adj" fmla="val 25575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91F9D-F53A-477D-B0FC-B0C9B5D1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590" y="4002024"/>
            <a:ext cx="297942" cy="771144"/>
          </a:xfrm>
          <a:prstGeom xmlns:a="http://schemas.openxmlformats.org/drawingml/2006/main" prst="roundRect">
            <a:avLst>
              <a:gd name="adj" fmla="val 25575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6997D-71B0-4537-A683-E26E8734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053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73E2F-BB9E-4F54-A610-C2A0ED96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Try It 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E04C9-FE65-4BFD-86A5-DA26CA6D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38375"/>
            <a:ext cx="1123950" cy="1619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5CF65-1162-4E91-BE0D-806B2742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765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fit notes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A6F2A1-0E2C-4171-B6F8-FC21572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57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C5DE21-A897-4063-8ACA-3F5778A8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35DF72-25EF-4082-9F56-81895B81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528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7506D-7C3C-4149-95DA-26D3ABBF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099F4E-6E77-4C46-BE22-BB68207E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FE541C-B206-4BAB-8AF9-F2183096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19208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1A7483-EFC6-4407-A034-630264A6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3C7420-89F2-4751-9CEA-3222764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B2FA1BE-0E92-4CF5-9A40-F049891B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70FF9-D77A-41A2-8B24-20ACEFDC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Online fashion still asks shoppers to guess fit.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32FDC-13D3-4272-AA39-9CC48B26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581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The report frames fit uncertainty as the core HCI problem: product photos and size charts show information, but they do not situate it on the user's own body.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6BB8A-1B30-4977-8590-55AC21C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03492-1A12-4AF8-A09B-18FCF22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F08C8-3864-46C3-80DF-9CCD044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Product photos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49BF9-29E5-4995-BCC2-68FE6BFD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show the item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046C8-7B9E-46CC-B3B1-BA801CD2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B6703-E6F8-47F9-A7DC-ABC3474B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3B1F0-E564-4A4A-B5AA-961D9C55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672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Size charts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519FC-9FE6-4BE2-AC03-5F4200F3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24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show abstract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EDBBD-04BA-454C-8115-73EB4714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5F4D"/>
          </a:solidFill>
          <a:ln xmlns:a="http://schemas.openxmlformats.org/drawingml/2006/main" w="0">
            <a:solidFill>
              <a:srgbClr val="8F5F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35223-C0FD-4094-92EA-0CE6A2A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335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92398-0BB4-45E8-A0D8-628C1924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Fit uncertainty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C135F-2FB4-4252-BB83-62E420DC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24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creates guesswork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C5E3B-BA64-4115-B774-42EF0BDB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FA547-432E-49F2-B6A5-02B7A54A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Abandon / 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F1735-4DD2-49CB-AF25-A336348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24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trust drops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0E917-ECD8-42D6-8CC2-D5350927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55967-3AE2-4779-A16A-753E162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859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"How will this look on me?"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FDFED-AB73-4326-B582-1F335C91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90800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The unanswered user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15E41-1756-48B5-9FF0-068C726A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D770F-07F7-4982-8F4D-A8E5C6A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765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brand sizing differs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6CFC60-3843-48DD-B25F-3601FA3F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9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258BA-E013-4A5F-8F58-73851131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147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model photos do not map to body proportions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C57085-4776-40C0-ABF0-F80063C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D7891-E33A-45C5-B62A-B64CFAC3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528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returns carry trust, cost, and waste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F05970-767D-4BDE-A6B0-0A2A0C8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72F024-2DEE-4536-9059-CB73CF5A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003031-C1C7-4D87-B355-83A34266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77415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EC6FC2-2F55-416A-AF26-BD4EEC1B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423C3F-E4F9-4070-A056-70F1157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AC37CF-C576-40C8-B7CF-F49EB466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8B038-34CE-48B3-B6CD-7C0B820E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38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Research narrowed the scope to one job: confidence before checkout.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E41B2-C5C2-47CA-8140-A0F8FF4B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C95E4-E5B3-438A-8F68-1F438C87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95600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fit</a:t>
            </a:r>
          </a:p>
          <a:p xmlns:a="http://schemas.openxmlformats.org/drawingml/2006/main">
            <a:pPr algn="ctr">
              <a:defRPr sz="255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A9865-FD90-4F7C-9C5F-390CA1F6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ABCA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ABCAA"/>
                </a:solidFill>
                <a:latin typeface="Aptos"/>
                <a:ea typeface="Aptos"/>
                <a:cs typeface="Aptos"/>
              </a:rPr>
              <a:t>selected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43F0B-AD5E-4E40-B082-C9011123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E3D5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F443C-5B1C-4705-94AF-554F12F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Fit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6DC8D-8AE7-4C48-8140-8238764D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Users want to know how clothes sit on their own body.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92E72-02E9-4D19-8C24-60A2EDA2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88EFC-308E-48A7-97CD-9183BC1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Size inconsistency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76F6D-EE85-4011-821D-87B9005E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A size label is not enough across brands.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3CD42-B869-43EF-BC17-CC08CEB2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5AEC6-B72C-46CC-BDCD-7F5EC484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Image limitation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4EAA1-9347-4902-A760-F5FB01DE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146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Catalogue photos hide length, waist, shoulder, and proportion.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27968-2CE5-445C-9E4A-1BE80827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488AC-0DAF-46D5-93AC-B1018AFA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19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Measurement friction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FABB1-B0B3-4765-A7F2-D4DFD57D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Input is acceptable only when the benefit is clear.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B670E-D03C-40C5-A90D-9D26DDB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9B878-0A74-4EBD-B915-3721C1ED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911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Privacy need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7374E-5436-4220-8D71-7AC7312D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578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Camera access needs explanation and fallback.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3BE68-A5A4-4D53-B1A4-37679CE3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Mood styling was deliberately removed from scope because it distracted from the approved fit problem.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4233D-A828-4F63-8B5D-48F3DA7C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10680-3AF6-4A1E-A11D-2CFEB8A2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FD249-8186-4A56-9B87-0F273082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79929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61DB3D-1839-4DA3-B2C5-6B7B74CF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CEFF129-1738-4028-ACB6-3CBECBF6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E48E23-AF5B-4F20-A930-8842AEAD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DAF99-6B8A-425B-ACE7-A2DFF975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Adaeze needs a shorter path from browsing to trust.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AF2B6-8F03-41F6-BC28-5C5C99B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The persona is a Lagos university student who buys online for convenience but hesitates when fit, length, and privacy feel unclear.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F8C00-50BC-47E3-9DDD-FBF8C790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CURRENT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2C1D2-CB30-44F7-9410-5E40E40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MODELME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37A8D-53B3-4E6A-B5F5-97CC3E5C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5F4D"/>
          </a:solidFill>
          <a:ln xmlns:a="http://schemas.openxmlformats.org/drawingml/2006/main" w="0">
            <a:solidFill>
              <a:srgbClr val="8F5F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A3533-FD5B-485C-B9A3-DAD3F474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861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1B0FF-4EA8-4C8A-9C48-99CD378F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12434-DBD7-4DEB-AE2B-ABF723CF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Browse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38C37-87A6-4CAF-9B16-2300ACF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5F4D"/>
          </a:solidFill>
          <a:ln xmlns:a="http://schemas.openxmlformats.org/drawingml/2006/main" w="0">
            <a:solidFill>
              <a:srgbClr val="8F5F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A613E-37FC-4434-AD38-C48E29DD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861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15D7A-CE62-4728-8BEB-38E3DB15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718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030D4-2A07-4F1B-9AA6-73CF1A5F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861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Check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4EDBC-7B4D-4999-918C-D0921F9C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5F4D"/>
          </a:solidFill>
          <a:ln xmlns:a="http://schemas.openxmlformats.org/drawingml/2006/main" w="0">
            <a:solidFill>
              <a:srgbClr val="8F5F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F3B03-D3DA-436B-94FB-DB1439B7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861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610EA-0AEC-49EB-A8B0-29B2D53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718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82018A-70BD-4CC4-8DC7-F14F855D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861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Read chart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5E8AD-6923-4F62-8E68-9FF30989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5F4D"/>
          </a:solidFill>
          <a:ln xmlns:a="http://schemas.openxmlformats.org/drawingml/2006/main" w="0">
            <a:solidFill>
              <a:srgbClr val="8F5F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52B15-E982-4347-8702-91754C1C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D1B5E-1E05-435D-9430-307E0E8D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718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93E06-EC60-41F4-8901-5C319A09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861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Ask friends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DAC0E-E987-4B4B-A605-FA9910C1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5F4D"/>
          </a:solidFill>
          <a:ln xmlns:a="http://schemas.openxmlformats.org/drawingml/2006/main" w="0">
            <a:solidFill>
              <a:srgbClr val="8F5F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36BA8-7E22-4F05-86F0-AA235A9F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718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3BD362-2A1B-429C-8D20-B269B3B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861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Hesitate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C4BD0-3757-40C4-8294-D0907BE5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18BBB-55C5-4154-A78A-CF041D6A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27B44-B4EE-4F1F-AADF-8C4AD31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ABB7AF-3621-449E-BECB-88BE17FA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Build avatar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01E166-12F2-458A-AD52-54948775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76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07E5C-CBD7-452B-ABFE-6B998488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720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9D8DB8-DB39-42B5-A84C-7974576D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577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9CFBD-4C46-4914-95EB-5D3C320D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720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Confirm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83DF5E-773E-48D1-A099-98DDCDC8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76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6C89-F25C-48D3-9BD0-37E3CB70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720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960B60-AC28-40B6-AF22-CD619719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577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B10FDA-8934-4FC5-9231-D3FC3A32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720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Try garment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80BA0F-833F-473B-B14E-5769BC54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76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8889E6-5FA9-48FD-BE26-B57A48A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7202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F560E6-B264-41DB-8B57-5AB17032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577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5F2459-1D0F-4D04-891C-A9FDCDA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720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Read fit notes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7F781A-E81F-4B36-BA43-268908F8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76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CEBB8D-E1D8-4307-8885-DE4EE35C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57775"/>
            <a:ext cx="1466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01A443-15BF-41AA-A55B-0EC54EA8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720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Save or shop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EC36A4-61E2-4031-B823-4154C25E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752600" cy="24384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8ABD8F-0471-4656-B349-0663CDB3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Core need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102E04-E9A3-4714-B713-CB54D02F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71850"/>
            <a:ext cx="1257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50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"I want to see how the clothes will look on my own body before I pay."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530D44-8FD8-4227-B877-F9A2A1F3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29D6B2-312E-4350-82E9-769CD52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57C60A-99AA-4B6A-B367-EF30AAB1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27475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348D3C-2E90-4F0B-B6CB-60F933D3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C91CAD-5643-4A04-B593-CBC2A0D6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675F37-ADF9-4AD8-8B88-835AC62A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DE13E-ECEA-486B-A45B-F797274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The product model is built around five concrete objects.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6AEDF-1C2B-46FB-94B4-5A7DF0A3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ModelMe behaves like a private digital fitting room: build the avatar, connect measurements, choose a garment, review fit, then save or shop.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648BD-1905-41AD-9D44-B205A2C9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95E80-7950-4CCB-B75F-1AA857D3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Fit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31946-4361-4E9B-AE0F-157F181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8CF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CFC4"/>
                </a:solidFill>
                <a:latin typeface="Aptos"/>
                <a:ea typeface="Aptos"/>
                <a:cs typeface="Aptos"/>
              </a:rPr>
              <a:t>visual + notes + size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68998-D70B-454A-9839-81BA070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D4C7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7EE35-7AD1-407E-82EB-AE28D282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670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Avatar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716D5-966A-46CA-92FB-C3D30CC5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private body representation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B408F-6EDB-47F2-8F61-548302E5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815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949C4-3D49-42DA-884A-35AF6468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33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Measurements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CF191-21DD-43B2-922E-8C39667A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672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height, waist, hips, chest, inseam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F0A60-AB9F-4E4C-87B2-59D369F6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EB339-14D1-4EAF-8DFC-FE2B69C8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670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Garment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58685-EF16-4A2D-83A6-5F2039ED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catalogue item and size options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8C869-AC44-40BC-B21E-D82131EE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5E8DD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08CD9-341C-4DB9-9E71-67D861B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33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Closet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3C89B-CF91-4C27-B6AD-9B570BFD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672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saved looks and fit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1E045-7D80-4D62-A598-E4C076B6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908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2C914-20B2-4C78-BFCC-2B54522B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3026093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B5B14-47DF-407E-A48B-7F29D873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67275"/>
            <a:ext cx="2247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EFD58-0786-4383-ABD6-D1C421F1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634865"/>
            <a:ext cx="2247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26BE4-2C6C-41EB-91BC-62B8501F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402455"/>
            <a:ext cx="2247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733CB-A172-445F-8965-29AA2921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4170045"/>
            <a:ext cx="2247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F9C6A-A392-49F4-8045-94AF9537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937635"/>
            <a:ext cx="2247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26FC43-6D77-47AA-9B56-F52973D9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53853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calibrates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BA3BE-A658-4DB7-B9AC-D26CE926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EAF994-76AD-4051-A877-45FA92C2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3026093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fits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4C132-94FD-412D-98DE-EB6FD88F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24275"/>
            <a:ext cx="2514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D2F5E8-08E6-4570-84FC-8AEAC81C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3952875"/>
            <a:ext cx="2514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F7EF66-E7D5-47C2-BC01-193CBCB7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570" y="4181475"/>
            <a:ext cx="2514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17BBEA-146B-4965-B819-5DA2641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4410075"/>
            <a:ext cx="2514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7CDC2A-3D4C-4F94-B5C1-4F882724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0" y="4638675"/>
            <a:ext cx="2514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8D8513-3B93-42A1-BA9B-27D67C20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263" y="40481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saves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E063DD-7764-44EF-B333-2C43D0DF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CDDDAD-7248-4DF9-8F95-C27CA214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D0790F-8A79-4EE8-A90C-2C2A7F98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09342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4759F-D086-4FED-9DA1-352F900B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DC001B-B5B1-474C-B743-AA322A1A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CC26AB-4F2F-45B2-94E2-8B30DA3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91F6A-E0B5-4048-9ACF-1197A802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286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The prototype converts setup friction into a guided fitting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1559A-236C-431A-9BA5-5D157239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665C0-CF58-4220-A04A-6491F6E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F11AD-08E5-4D6B-BA33-6C5FA02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575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9E272-C137-408C-84EB-330F7AE9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Onboard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D49AB-119A-446A-BA0C-B714AFA9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0A8BD-E77C-4B5A-8C50-5BDE4EF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71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C6615-A374-4A95-9960-49A4D618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575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8E071-F7F2-4F47-9B1B-629499F1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528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628D3-568C-41C4-95B7-185D1466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7EB0A-2176-4C37-B081-3C0B03C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A9B6A-5F8E-4C4D-987D-88FF4A6A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575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0AE6E-9DE8-40A0-9890-3E353266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Measurements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915C3-E302-4515-8C39-5AC0920F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41524-D459-4B90-B985-D95AA60A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4F0F4-557A-4DAA-B268-B8FB9192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Optional scan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C3819-ECDE-4FC6-97B6-188157EF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B79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8F148-71B7-4147-A13F-C8ADA138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B2F47-5B70-4898-91CC-BB9BDE9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B12A7-3E33-4BBD-8401-D1A97E33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Avatar preview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87169-BE0E-438E-BC59-633EB45C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1557C-81DF-40B8-BF32-E42DE9A3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14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721827-C810-4056-9B8D-FCBB2D1C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005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EBD26B-AD0D-4299-836F-CE5E8D2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958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Try It 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6F4C0-0F8E-4E50-8333-2663AC1B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ACC84-8AF3-4776-A61B-7F7063FF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C7556-8809-47FE-8DE1-BA446518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005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0A9167-10F8-478C-ABED-6D93C427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958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Fit notes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4B920-538E-42C3-A3B3-33A9D6C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985C6-19BB-4652-888C-887605D5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14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A75FEC-C72F-41B0-BB82-18D00E8A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95800"/>
            <a:ext cx="933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Save / shop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6ABB03-18E7-4411-B0D9-CF3F71C4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1943100" cy="26479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57ADD6-55FF-4415-B97C-51825059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1676400" cy="23431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B8CB7-2CB7-4762-932F-61364F9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809" y="1724025"/>
            <a:ext cx="427482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322D"/>
          </a:solidFill>
          <a:ln xmlns:a="http://schemas.openxmlformats.org/drawingml/2006/main" w="0">
            <a:solidFill>
              <a:srgbClr val="3B322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70EF70-19EE-49AE-B5A7-923FA1DC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516" y="4076700"/>
            <a:ext cx="544068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D6CAB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12502E-D439-4FA6-B507-E9074E5A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Fitting it on you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587D9B-2CFA-424A-AB84-30B1B2D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ADA538-5C72-4EDF-9644-3B4E1F18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5E3F18-190B-4AD6-9217-DC2D6281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194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479DC9-914C-4B6D-8CB5-F8819761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1466850" cy="16764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4DB4C1-8BD9-488F-A00A-B1377EA2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about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461595-F21B-49A3-A74C-E8D27602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933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43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945CAD-99CF-43CD-B54B-36A7E4BE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useful screens: onboarding, scan, browse, fitting, closet, privacy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C3FC16-047B-4E58-9716-077CB7D3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802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The critical path must be wired end to end before usability testing: first setup, first try-on, comparison, save, and data deletion.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71221E-5279-4260-8F1A-2826121B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44D551-EDD9-418B-AEC9-20511D20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A9637D-9A0F-4467-B21D-27E57FA1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88189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4D7F9-6E74-4040-AE69-8C45794D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30F08D1-7AA9-4388-A82C-43562A59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4D7A5EC-92F6-4337-87B0-A197FACC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75689-E301-446A-8025-91D434CC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334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The visual system makes body-data tasks feel calm and premium.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08CAA-C25E-4E3B-AD4B-BF001B75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DESIGN 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C2D4B-C987-42B3-B302-F750BC3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488CC-0FDE-4942-96A1-3318ECBD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paper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A767B-32B7-40A9-8377-DFACDECD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1"/>
          </a:solidFill>
          <a:ln xmlns:a="http://schemas.openxmlformats.org/drawingml/2006/main" w="9525">
            <a:solidFill>
              <a:srgbClr val="1714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D3D96-0EAF-4C9E-BC81-DC632888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22102-4835-4686-B5C0-AACB54B3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B79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6A18D-29F6-4B5A-BF14-CDBDB86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670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taupe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D4403-EB07-4052-91A5-EC35177C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9525">
            <a:solidFill>
              <a:srgbClr val="7C8A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6609D-16B2-48B9-8329-3A45712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670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FB1CA-6CEF-4FB0-B565-83BB0EB5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5F4D"/>
          </a:solidFill>
          <a:ln xmlns:a="http://schemas.openxmlformats.org/drawingml/2006/main" w="9525">
            <a:solidFill>
              <a:srgbClr val="8F5F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0692C-8C0B-469F-8DBF-8179EEE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670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clay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8F34D-8A7D-46DD-8C4C-D4F5ABF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Georgia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BC5E9-7535-43A0-87AF-68B7FBA1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Display claims for an editorial fashion feel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22EF1-372E-46DA-B9EF-78B878CE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Aptos keeps measurements, controls, and helper text plain.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569F4-DC84-4EB2-961C-E12C8D8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MICROCOPY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09659-F612-41E4-8188-01C69FD3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2724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762AF-4E36-474C-A8F8-884CA14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03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A body that's actually yours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FBECB-1098-4FFD-848F-0B049D47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2724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06900-5FED-4025-AF47-ADC862E0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4327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Here's you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D9812-8029-4EA1-A324-4EA44C70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43350"/>
            <a:ext cx="2724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F51F4-12F7-476D-AB52-A1B6FBC7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We'll work with what you gave 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6691C-6B3F-4A51-ADCD-CA22953A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1943100" cy="33147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A90FC-D837-4ECD-8544-650E61D3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47850"/>
            <a:ext cx="1676400" cy="30099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615FD-9562-4F93-A57B-E2DE67A4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309" y="1781175"/>
            <a:ext cx="427482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322D"/>
          </a:solidFill>
          <a:ln xmlns:a="http://schemas.openxmlformats.org/drawingml/2006/main" w="0">
            <a:solidFill>
              <a:srgbClr val="3B32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66D30-330F-42C1-9124-C3E9239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4800600"/>
            <a:ext cx="544068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D6CA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C7C99-15FD-4D5A-B5A5-FCABB3E3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69C545-46D8-4644-820D-77B9CC31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10668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D4C7"/>
          </a:solidFill>
          <a:ln xmlns:a="http://schemas.openxmlformats.org/drawingml/2006/main" w="0">
            <a:solidFill>
              <a:srgbClr val="EAD4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477055-3526-43A7-AE4F-546CF5D4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973" y="2857500"/>
            <a:ext cx="184023" cy="18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B3B11B-5880-490F-80BE-565FF68D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964" y="3085529"/>
            <a:ext cx="328041" cy="568071"/>
          </a:xfrm>
          <a:prstGeom xmlns:a="http://schemas.openxmlformats.org/drawingml/2006/main" prst="roundRect">
            <a:avLst>
              <a:gd name="adj" fmla="val 23229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6DEC5-95F2-4975-9410-7FF4E07A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7560"/>
            <a:ext cx="552069" cy="5600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749A68-BFFD-4992-A20E-74AD563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962" y="3649599"/>
            <a:ext cx="136017" cy="3520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37AF2B-2067-47B9-987D-6E41880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3649599"/>
            <a:ext cx="136017" cy="3520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1714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D7C9A8-993D-4A25-AB4E-3561813F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053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F4CDA0-08BE-466D-A991-CEA0850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053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FFF869-315A-4DEC-959C-16F08D57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053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Closet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76C0F2-EB65-488C-A9EB-2B81E614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3053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413CAC-6940-4213-87C6-E512AF87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816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schematic, not a Figma screenshot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B20885-8E0F-4E18-A4FC-CEFE40EB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911A78-9AD0-421E-A646-1BEDAD39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F9955C-0984-4713-87C9-BF9F5000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96705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DC329-5276-467E-88FE-77A59397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949B012-E8B2-4CDB-B85C-31D7281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0FF8915-655D-4058-A844-3C6E0D7A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5D269-77AF-4348-B228-37C49F64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239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Trust is the adoption layer: privacy first, haptics optional.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B5221-2FA0-492D-9DCD-741D61D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PRIVACY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182A8-2E1B-4CF4-8E18-B79AAFC6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4F8FB-D766-4A41-BFAF-36D901CC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Camera at scan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E1444-410C-4226-B674-886CC90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Ask only after explaining why it helps.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1A71F-C63D-423D-ACDA-B2806944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92809-C3AD-451A-A759-9D758619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Measurement-only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5F422-1785-46D3-9944-2C8959C2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Let users continue without a scan.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E0745-84AA-4893-9411-3A14F99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86209-D12E-4021-9309-0FF470D7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Private avatar by 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C33C1-BF01-4F8F-BDE9-F1EE247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Make visibility and storage understandable.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01D5A-03CD-493B-9ECB-1E342791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A6B"/>
          </a:solidFill>
          <a:ln xmlns:a="http://schemas.openxmlformats.org/drawingml/2006/main" w="0">
            <a:solidFill>
              <a:srgbClr val="7C8A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93A33-9831-42B5-9C37-107EA79A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Delete and download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AE2BC-CF39-450B-970C-C898E9C6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6252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Give the user clear control after setup.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223AC-ED15-4C30-9BB8-D65C1F0B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9525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90373-C84F-41B7-9727-80D0E92D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336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OPTIONAL HAPTIC DISPLAY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EF061-CBC9-4489-97B3-517894C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336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Save to Closet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D4428-65A1-4C67-B4C3-000F48EF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short confirmation pulse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3C9D0-CCE4-4B51-8FC2-7D8F41F7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57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028D9-1FCD-482D-AEBF-820A9AE9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670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Fitting complete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AC4FE-2D84-4FFD-B468-54477D4A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soft completion pulse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4E50B-A6F5-42F8-974C-AB5D3B9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90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2CE6A-D46D-470A-A222-6B67A460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04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Light fabric cue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B27489-00EC-4A31-A5D9-2A93B5F3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short, light pulses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08C41-D26F-4DC1-B40E-5A6D8DF2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243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7F8EE-16D7-4C22-A75D-C083D805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338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Heavy fabric cue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2327B-49F2-4227-9CE0-4518097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338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slower, stronger pulse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67E8C8-35F6-4BDB-AF46-CEF0F02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57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12E93D-E24E-4213-8BF7-B6D05429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672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Failed scan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A80BA-A7B9-4C8D-9009-626E7CEA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672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distinct double pulse + visible error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58B0B4-5A78-433B-B91E-F31F3122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91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87D030-75F9-438C-868F-9B576A8D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1020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Haptics enrich fabric understanding and action feedback, but every important message must remain visible as text.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FFC76-0A69-4D0E-8726-EE5F0BBB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7B0210-AC22-48F1-950B-7BAE4BA4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48CB8F-7AB1-45CE-9D96-866025D9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18801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44AF3B-AEC1-41A4-87EC-934E7EEB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39AEE0E-8639-404B-AC81-2F907E75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0A8F48-85A4-4FB8-8E29-2A5B1FFE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1671B-09CF-4BEE-8DA0-717D6479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171411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71411"/>
                </a:solidFill>
                <a:latin typeface="Georgia"/>
                <a:ea typeface="Georgia"/>
                <a:cs typeface="Georgia"/>
              </a:rPr>
              <a:t>The biggest UX risk is not polish; it is misleading fit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A047A-EF9E-43E8-A669-1969EF4C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98107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D29DC-03E3-4FA1-853B-5840CB94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Severity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8E607-8E67-42B3-AB15-9EFA003E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050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96A6C-4863-4F3F-AEF6-10CF3BF2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217C7-AA03-48A7-8A05-8B2F63ED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65E"/>
                </a:solidFill>
                <a:latin typeface="Aptos"/>
                <a:ea typeface="Aptos"/>
                <a:cs typeface="Aptos"/>
              </a:rPr>
              <a:t>Recommended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F8890-3FC5-48A9-A27D-188A73C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31065-AB3F-4E09-8775-FB2E7B4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723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8F5F4D"/>
          </a:solidFill>
          <a:ln xmlns:a="http://schemas.openxmlformats.org/drawingml/2006/main" w="9525">
            <a:solidFill>
              <a:srgbClr val="8F5F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ED529-D4C2-4796-91E4-0DB36DC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351C2-9C48-4849-B098-A51E0AB3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194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Measurement units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B6315-0FB2-4590-AF52-31B8C36C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cm/in screens appear to keep the same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06120-0AF9-423A-BDA7-A6249982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Convert values and flag unrealistic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B57D2-3615-4179-AAA4-BEB4C85C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16812-2520-4A93-A79B-2C52A7FF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723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8F5F4D"/>
          </a:solidFill>
          <a:ln xmlns:a="http://schemas.openxmlformats.org/drawingml/2006/main" w="9525">
            <a:solidFill>
              <a:srgbClr val="8F5F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1352D-D0D2-4055-B93C-82EA04E4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E101C-555F-49B2-8EF4-E90C025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766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Accuracy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6D465-4C3F-47D9-83AE-4E104602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Measurement-only fallback claims about 85%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E732D-DCE4-48F4-95C7-CC47E7A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Replace with evidence-safe wording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88CF5-C49E-4D9B-9357-FD4D50AB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5704E-ACDE-4AC6-B563-EB585D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723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8F5F4D"/>
          </a:solidFill>
          <a:ln xmlns:a="http://schemas.openxmlformats.org/drawingml/2006/main" w="9525">
            <a:solidFill>
              <a:srgbClr val="8F5F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25DDA-5AC8-4A7E-A3CF-F8CBC86C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8A4A9-418F-4964-8F7C-C8D9A63F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338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Privacy and consent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F25CA-5316-4A22-B253-1BAA8B49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Deletion needs confirmation and explanation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2A66B-7CE0-4098-93A1-439B8346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Add confirmation, undo, and removal details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F7E90-B358-450E-B621-218CC5EE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89659-C2ED-491F-B31B-690879F9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723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8F5F4D"/>
          </a:solidFill>
          <a:ln xmlns:a="http://schemas.openxmlformats.org/drawingml/2006/main" w="9525">
            <a:solidFill>
              <a:srgbClr val="8F5F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405EC-850D-447E-8786-065C0F22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3C5FD0-93D2-48FC-9607-75DFBBAD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910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Prototype wiring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80A42A-C848-449E-9ABD-A0B156AB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Critical path is not proven interactive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7111E-A4DA-44A1-B8F1-0FD1105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Wire and test the full first try-on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FBD795-69E9-40C8-A93A-7D073D58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43425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232BE8-1E64-491B-9442-759912E8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723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B79A7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2A3C9E-D1C6-4600-A453-EC20759F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84ECBC-922C-49C5-9078-6B557C66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48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411"/>
                </a:solidFill>
                <a:latin typeface="Aptos"/>
                <a:ea typeface="Aptos"/>
                <a:cs typeface="Aptos"/>
              </a:rPr>
              <a:t>Measurement effort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42B50B-CCC5-4850-AE26-E9C67296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4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411"/>
                </a:solidFill>
                <a:latin typeface="Aptos"/>
                <a:ea typeface="Aptos"/>
                <a:cs typeface="Aptos"/>
              </a:rPr>
              <a:t>Entry may feel long for first-time users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6456CC-C818-4C58-A79D-8135C66A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Guide one or two measurements per step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3ED1F9-398A-4B3A-B26D-F76C474D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828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F66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65E"/>
                </a:solidFill>
                <a:latin typeface="Aptos"/>
                <a:ea typeface="Aptos"/>
                <a:cs typeface="Aptos"/>
              </a:rPr>
              <a:t>Priority redesign: measurement confidence and safe fit feedback. Example: 74 cm should become about 29.1 in, not 74 in.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4966F1-3B80-4BE3-AD9D-B0BCEE6E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ED2EB3-138D-4762-981B-18743E8B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8276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69F5A2-A30F-4048-8BC0-A9549612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827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D827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4782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F3DA2-CF3E-4F0A-8FDC-BCA4E8F2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4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2C4DB7-1428-4D19-A34E-358CD736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7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1C136F-43C2-44B7-A551-93575967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DE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DED2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53398-DA3D-46CC-940F-39BA13D2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925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The next version should make confidence measurable.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4A599-E75A-4FA2-988D-D2E008BB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D8CFC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CFC4"/>
                </a:solidFill>
                <a:latin typeface="Aptos"/>
                <a:ea typeface="Aptos"/>
                <a:cs typeface="Aptos"/>
              </a:rPr>
              <a:t>The report's conclusion is strong because it does not ask for more screens. It asks for better trust: corrected units, cautious copy, visible states, and real user testing.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2C6CF-ACFF-4CC4-BB37-323C900A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3D34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7A3CB-3718-48F2-9C4F-29610588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9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A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6B3FF-3C69-47CB-90E4-FF15F3DA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27582-9A1C-40EB-9F74-B5F70E31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F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FB4"/>
                </a:solidFill>
                <a:latin typeface="Aptos"/>
                <a:ea typeface="Aptos"/>
                <a:cs typeface="Aptos"/>
              </a:rPr>
              <a:t>cm/in conversion and unsupported claims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96E5D-660D-43D0-8D10-06819306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433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3D34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C6C09-9971-40C0-9D3D-6B37A84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9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A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FCD2E-4590-4E53-BAA5-5F0CD7CD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57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Wire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C1BCE-ADBF-422B-9E5B-97A0F6B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57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F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FB4"/>
                </a:solidFill>
                <a:latin typeface="Aptos"/>
                <a:ea typeface="Aptos"/>
                <a:cs typeface="Aptos"/>
              </a:rPr>
              <a:t>critical path, retry, saved, empty, and deletion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411CE-D4C2-4858-80D1-F1DA0E70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433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3D34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89641-2344-4E2F-B56B-00065666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33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9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A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D6617-812F-49F8-A577-98D4216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57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DC7C1-13B1-4AD1-B8A2-D748230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57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F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FB4"/>
                </a:solidFill>
                <a:latin typeface="Aptos"/>
                <a:ea typeface="Aptos"/>
                <a:cs typeface="Aptos"/>
              </a:rPr>
              <a:t>confidence labels: confirmed, estimated, needs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160D5-08D9-47F5-A044-C8F2FE10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433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3D34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DCBC7-C384-4EF3-B396-CA7E5851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9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A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FA9F9-F48F-417B-8F96-4D64AC4B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0FBCA-3540-418F-86F6-08EF55F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F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FB4"/>
                </a:solidFill>
                <a:latin typeface="Aptos"/>
                <a:ea typeface="Aptos"/>
                <a:cs typeface="Aptos"/>
              </a:rPr>
              <a:t>moderated phone-sized sessions with at least five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38316-0659-437A-9779-C50D426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1676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3D34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E8C18-16CF-4850-AB9D-A7E1DF6D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9A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A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49D46-591F-4E8A-BA2F-C1DF5BE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57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Iterate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C012B-EE5D-4708-9522-2F5D040D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57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F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FB4"/>
                </a:solidFill>
                <a:latin typeface="Aptos"/>
                <a:ea typeface="Aptos"/>
                <a:cs typeface="Aptos"/>
              </a:rPr>
              <a:t>from observed errors and confidence ratings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E996E-AFF2-4650-88C6-A762DD48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7F3E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F7F3EC"/>
                </a:solidFill>
                <a:latin typeface="Georgia"/>
                <a:ea typeface="Georgia"/>
                <a:cs typeface="Georgia"/>
              </a:rPr>
              <a:t>ModelMe can be defended as a complete HCI project: a clear problem, a focused product model, a polished prototype direction, and an honest evaluation path.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AE58C1-F914-437C-8D04-EE8C7DF4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4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C67449-31B7-4BB1-90E6-1E108794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99D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99D90"/>
                </a:solidFill>
                <a:latin typeface="Aptos"/>
                <a:ea typeface="Aptos"/>
                <a:cs typeface="Aptos"/>
              </a:rPr>
              <a:t>Source: ModelMe Complete Report, June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6E7CFE-0EE5-42DD-97CD-3FC1587F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9D9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9D9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4181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2026-06-09T02:31:46.6030000Z</dcterms:created>
  <dcterms:modified xsi:type="dcterms:W3CDTF">2026-06-09T02:31:46.6030000Z</dcterms:modified>
</coreProperties>
</file>