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9bb278968346ad" /><Relationship Type="http://schemas.openxmlformats.org/officeDocument/2006/relationships/extended-properties" Target="/docProps/app.xml" Id="R8d84cab84a4b4394" /><Relationship Type="http://schemas.openxmlformats.org/officeDocument/2006/relationships/officeDocument" Target="/ppt/presentation.xml" Id="R914de4bac5cd47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22b10cddff4696"/>
  </p:sldMasterIdLst>
  <p:notesMasterIdLst>
    <p:notesMasterId xmlns:r="http://schemas.openxmlformats.org/officeDocument/2006/relationships" r:id="R7d9ca3cdd17e4676"/>
  </p:notesMasterIdLst>
  <p:sldIdLst>
    <p:sldId xmlns:r="http://schemas.openxmlformats.org/officeDocument/2006/relationships" id="256" r:id="Rede46ec7e4174c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dad2d84be54389" /><Relationship Type="http://schemas.openxmlformats.org/officeDocument/2006/relationships/slideMaster" Target="/ppt/slideMasters/slideMaster1.xml" Id="R0022b10cddff4696" /><Relationship Type="http://schemas.openxmlformats.org/officeDocument/2006/relationships/notesMaster" Target="/ppt/notesMasters/notesMaster1.xml" Id="R7d9ca3cdd17e4676" /><Relationship Type="http://schemas.openxmlformats.org/officeDocument/2006/relationships/presProps" Target="/ppt/presProps.xml" Id="R31768d2096494a94" /><Relationship Type="http://schemas.openxmlformats.org/officeDocument/2006/relationships/viewProps" Target="/ppt/viewProps.xml" Id="Rbf2af8d15afa42ca" /><Relationship Type="http://schemas.openxmlformats.org/officeDocument/2006/relationships/tableStyles" Target="/ppt/tableStyles.xml" Id="R26e088ef6c144a0f" /><Relationship Type="http://schemas.openxmlformats.org/officeDocument/2006/relationships/slide" Target="/ppt/slides/slide1.xml" Id="Rede46ec7e4174c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0a2210dca647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02f99eeea64aee" /><Relationship Type="http://schemas.openxmlformats.org/officeDocument/2006/relationships/notesMaster" Target="/ppt/notesMasters/notesMaster1.xml" Id="R4d98a36f435d43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d77d080b0b4b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5bae3c612e4518" /><Relationship Type="http://schemas.openxmlformats.org/officeDocument/2006/relationships/slideLayout" Target="/ppt/slideLayouts/slideLayout1.xml" Id="R647482cce5c54b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7482cce5c54b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78ed2fbea41aa" /><Relationship Type="http://schemas.openxmlformats.org/officeDocument/2006/relationships/notesSlide" Target="/ppt/notesSlides/notesSlide1.xml" Id="Rc21820f2f4b348a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86C1F9-C0E1-46C4-8FA1-775B4B2C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4DD9067-0472-410B-8605-BE0CC301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B3C"/>
          </a:solidFill>
          <a:ln xmlns:a="http://schemas.openxmlformats.org/drawingml/2006/main" w="0">
            <a:solidFill>
              <a:srgbClr val="A85B3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2A5BCC6-28E0-49BE-A87F-BEA69D0E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179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7970"/>
                </a:solidFill>
                <a:latin typeface="Aptos"/>
                <a:ea typeface="Aptos"/>
                <a:cs typeface="Aptos"/>
              </a:rPr>
              <a:t>HCI DESIGN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B98F2-0E31-43AB-9730-CEBDAA17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96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A40BC-7B5D-4476-A886-829F324A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1412"/>
                </a:solidFill>
                <a:latin typeface="Georgia"/>
                <a:ea typeface="Georgia"/>
                <a:cs typeface="Georgia"/>
              </a:defRPr>
            </a:pPr>
            <a:r>
              <a:rPr sz="5100" b="1">
                <a:solidFill>
                  <a:srgbClr val="171412"/>
                </a:solidFill>
                <a:latin typeface="Georgia"/>
                <a:ea typeface="Georgia"/>
                <a:cs typeface="Georgia"/>
              </a:rPr>
              <a:t>ModelMe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CDC58-C7E8-4E50-895E-61780BC4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5B3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A85B3C"/>
                </a:solidFill>
                <a:latin typeface="Georgia"/>
                <a:ea typeface="Georgia"/>
                <a:cs typeface="Georgia"/>
              </a:rPr>
              <a:t>Try it on, before it ships.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5FD16-E260-4221-A311-A605B700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1412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1412"/>
                </a:solidFill>
                <a:latin typeface="Georgia"/>
                <a:ea typeface="Georgia"/>
                <a:cs typeface="Georgia"/>
              </a:rPr>
              <a:t>A private avatar turns online fashion fit from guesswork into a guided purchase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04001-4347-42E0-8F50-860909A4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BE11E-AF8B-4C08-A017-AC537D07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179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17970"/>
                </a:solidFill>
                <a:latin typeface="Aptos"/>
                <a:ea typeface="Aptos"/>
                <a:cs typeface="Aptos"/>
              </a:rPr>
              <a:t>CORE USER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B5670-0B4A-4CBD-A431-58846F7D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4642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4B4642"/>
                </a:solidFill>
                <a:latin typeface="Georgia"/>
                <a:ea typeface="Georgia"/>
                <a:cs typeface="Georgia"/>
              </a:rPr>
              <a:t>"I want to see how the clothes will look on my own body before I pay."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E3C32-5B2B-4BE3-97C6-40AACEDC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8650"/>
            <a:ext cx="3257550" cy="529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412"/>
          </a:solidFill>
          <a:ln xmlns:a="http://schemas.openxmlformats.org/drawingml/2006/main" w="0">
            <a:solidFill>
              <a:srgbClr val="1714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9D625-ED37-44BB-97E4-F92ED1F0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800100"/>
            <a:ext cx="29718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CBB09-C09B-479C-B83F-15AE8BD3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715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27"/>
          </a:solidFill>
          <a:ln xmlns:a="http://schemas.openxmlformats.org/drawingml/2006/main" w="0">
            <a:solidFill>
              <a:srgbClr val="2F2A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566A9-B300-40CF-8A38-3D76EB28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2192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41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412"/>
                </a:solidFill>
                <a:latin typeface="Aptos"/>
                <a:ea typeface="Aptos"/>
                <a:cs typeface="Aptos"/>
              </a:rPr>
              <a:t>Fit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69E27-05A4-493C-84C7-0CAEDE33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504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17970"/>
                </a:solidFill>
                <a:latin typeface="Aptos"/>
                <a:ea typeface="Aptos"/>
                <a:cs typeface="Aptos"/>
              </a:rPr>
              <a:t>Private avatar preview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A618D-43B5-4A97-88CB-85BBA4C1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24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4DA"/>
          </a:solidFill>
          <a:ln xmlns:a="http://schemas.openxmlformats.org/drawingml/2006/main" w="0">
            <a:solidFill>
              <a:srgbClr val="EEE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155F5-BBE9-4F33-BDE8-B997016A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C2B2"/>
          </a:solidFill>
          <a:ln xmlns:a="http://schemas.openxmlformats.org/drawingml/2006/main" w="0">
            <a:solidFill>
              <a:srgbClr val="D7C2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C73A1-35BE-48D5-83E9-F917FFBE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76450"/>
            <a:ext cx="514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067"/>
          </a:solidFill>
          <a:ln xmlns:a="http://schemas.openxmlformats.org/drawingml/2006/main" w="0">
            <a:solidFill>
              <a:srgbClr val="6F806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777E16-9055-45A2-B727-41CF8E68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647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B4B"/>
          </a:solidFill>
          <a:ln xmlns:a="http://schemas.openxmlformats.org/drawingml/2006/main" w="0">
            <a:solidFill>
              <a:srgbClr val="B56B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8C83B-922C-42E4-93E9-AECA9CFD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2"/>
          </a:solidFill>
          <a:ln xmlns:a="http://schemas.openxmlformats.org/drawingml/2006/main" w="0">
            <a:solidFill>
              <a:srgbClr val="E6EC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BE533-1288-4B18-9DE8-EBBBF71F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806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8067"/>
                </a:solidFill>
                <a:latin typeface="Aptos"/>
                <a:ea typeface="Aptos"/>
                <a:cs typeface="Aptos"/>
              </a:rPr>
              <a:t>Fits well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A5272B-8088-4198-B907-6186A1F0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33650"/>
            <a:ext cx="895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464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4642"/>
                </a:solidFill>
                <a:latin typeface="Aptos"/>
                <a:ea typeface="Aptos"/>
                <a:cs typeface="Aptos"/>
              </a:rPr>
              <a:t>Size M keeps the waist relaxed while the shoulder line stays clean.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724CF-F146-404F-AF28-27767E81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433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967AD-EA93-4C88-A101-31E23997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7338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79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7970"/>
                </a:solidFill>
                <a:latin typeface="Aptos"/>
                <a:ea typeface="Aptos"/>
                <a:cs typeface="Aptos"/>
              </a:rPr>
              <a:t>Compare sizes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69F6A-5E89-4011-8F99-8DF4660F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038600"/>
            <a:ext cx="99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412"/>
          </a:solidFill>
          <a:ln xmlns:a="http://schemas.openxmlformats.org/drawingml/2006/main" w="0">
            <a:solidFill>
              <a:srgbClr val="17141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CE513C-196E-4CDD-9177-4B7DB364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243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FFE239-F937-4E79-874B-4EAB2C96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43375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D4C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D4CA"/>
                </a:solidFill>
                <a:latin typeface="Aptos"/>
                <a:ea typeface="Aptos"/>
                <a:cs typeface="Aptos"/>
              </a:rPr>
              <a:t>snug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9F195A-6794-4E67-9D25-13C8E463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3860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2"/>
          </a:solidFill>
          <a:ln xmlns:a="http://schemas.openxmlformats.org/drawingml/2006/main" w="0">
            <a:solidFill>
              <a:srgbClr val="E6EC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5E0684-4413-480C-8460-3641F931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24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806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8067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722B5E-7383-41D3-8BE6-9398F23B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433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80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067"/>
                </a:solidFill>
                <a:latin typeface="Aptos"/>
                <a:ea typeface="Aptos"/>
                <a:cs typeface="Aptos"/>
              </a:rPr>
              <a:t>recommended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ABB93B-060D-40A5-AD0A-85435C43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38700"/>
            <a:ext cx="2324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412"/>
          </a:solidFill>
          <a:ln xmlns:a="http://schemas.openxmlformats.org/drawingml/2006/main" w="0">
            <a:solidFill>
              <a:srgbClr val="17141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CC5B46-4C19-40A8-88CC-79F79259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911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Save to Closet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E6416C-3394-4257-852B-0F0970E6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58709D-6889-47A0-995B-F8C7856F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8160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4487CF-7B19-480E-93F6-ADCD2CA0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8160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tage-1-marker">
            <a:extLst xmlns:a="http://schemas.openxmlformats.org/drawingml/2006/main">
              <a:ext uri="{FF2B5EF4-FFF2-40B4-BE49-F238E27FC236}">
                <a16:creationId xmlns:a16="http://schemas.microsoft.com/office/drawing/2014/main" id="{101874F5-C5B4-4411-BB29-421AEE3F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B3C"/>
          </a:solidFill>
          <a:ln xmlns:a="http://schemas.openxmlformats.org/drawingml/2006/main" w="0">
            <a:solidFill>
              <a:srgbClr val="A85B3C"/>
            </a:solidFill>
            <a:prstDash val="solid"/>
          </a:ln>
        </p:spPr>
      </p:sp>
      <p:sp>
        <p:nvSpPr>
          <p:cNvPr id="37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7A5CA9A5-F489-4087-B4FA-BB747B63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991B08-1E09-4835-9EAC-84121E8B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41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412"/>
                </a:solidFill>
                <a:latin typeface="Aptos"/>
                <a:ea typeface="Aptos"/>
                <a:cs typeface="Aptos"/>
              </a:rPr>
              <a:t>Fit pain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018956-899C-400B-B338-6DF4206B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17970"/>
                </a:solidFill>
                <a:latin typeface="Aptos"/>
                <a:ea typeface="Aptos"/>
                <a:cs typeface="Aptos"/>
              </a:rPr>
              <a:t>Catalogue photos and size labels do not explain personal fit.</a:t>
            </a:r>
          </a:p>
        </p:txBody>
      </p:sp>
      <p:sp>
        <p:nvSpPr>
          <p:cNvPr id="40" name="stage-2-marker">
            <a:extLst xmlns:a="http://schemas.openxmlformats.org/drawingml/2006/main">
              <a:ext uri="{FF2B5EF4-FFF2-40B4-BE49-F238E27FC236}">
                <a16:creationId xmlns:a16="http://schemas.microsoft.com/office/drawing/2014/main" id="{BD92A98D-A86B-4972-8BC5-EF8A4ABA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00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8067"/>
          </a:solidFill>
          <a:ln xmlns:a="http://schemas.openxmlformats.org/drawingml/2006/main" w="0">
            <a:solidFill>
              <a:srgbClr val="6F8067"/>
            </a:solidFill>
            <a:prstDash val="solid"/>
          </a:ln>
        </p:spPr>
      </p:sp>
      <p:sp>
        <p:nvSpPr>
          <p:cNvPr id="41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F2BC2070-8378-430E-91FB-C4817979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768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4AB27E-CC46-48B0-8813-2ED31F22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768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41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412"/>
                </a:solidFill>
                <a:latin typeface="Aptos"/>
                <a:ea typeface="Aptos"/>
                <a:cs typeface="Aptos"/>
              </a:rPr>
              <a:t>Private avatar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781B76-A2EA-4522-9231-42EE34E4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435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17970"/>
                </a:solidFill>
                <a:latin typeface="Aptos"/>
                <a:ea typeface="Aptos"/>
                <a:cs typeface="Aptos"/>
              </a:rPr>
              <a:t>Measurements plus optional scan create a reusable body model.</a:t>
            </a:r>
          </a:p>
        </p:txBody>
      </p:sp>
      <p:sp>
        <p:nvSpPr>
          <p:cNvPr id="44" name="stage-3-marker">
            <a:extLst xmlns:a="http://schemas.openxmlformats.org/drawingml/2006/main">
              <a:ext uri="{FF2B5EF4-FFF2-40B4-BE49-F238E27FC236}">
                <a16:creationId xmlns:a16="http://schemas.microsoft.com/office/drawing/2014/main" id="{35BF4520-EB3D-4FB4-A9B2-D2AC074A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00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B3C"/>
          </a:solidFill>
          <a:ln xmlns:a="http://schemas.openxmlformats.org/drawingml/2006/main" w="0">
            <a:solidFill>
              <a:srgbClr val="A85B3C"/>
            </a:solidFill>
            <a:prstDash val="solid"/>
          </a:ln>
        </p:spPr>
      </p:sp>
      <p:sp>
        <p:nvSpPr>
          <p:cNvPr id="45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F598A92D-A14D-4E98-BC03-54DE90DA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768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56B876-4508-44FE-B587-6C5D2CB6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4768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41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412"/>
                </a:solidFill>
                <a:latin typeface="Aptos"/>
                <a:ea typeface="Aptos"/>
                <a:cs typeface="Aptos"/>
              </a:rPr>
              <a:t>Try-on notes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CA151C-AF87-4893-973F-6F40C42F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7435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17970"/>
                </a:solidFill>
                <a:latin typeface="Aptos"/>
                <a:ea typeface="Aptos"/>
                <a:cs typeface="Aptos"/>
              </a:rPr>
              <a:t>The garment is shown on the avatar with size guidance.</a:t>
            </a:r>
          </a:p>
        </p:txBody>
      </p:sp>
      <p:sp>
        <p:nvSpPr>
          <p:cNvPr id="48" name="stage-4-marker">
            <a:extLst xmlns:a="http://schemas.openxmlformats.org/drawingml/2006/main">
              <a:ext uri="{FF2B5EF4-FFF2-40B4-BE49-F238E27FC236}">
                <a16:creationId xmlns:a16="http://schemas.microsoft.com/office/drawing/2014/main" id="{2B9C4380-94F3-4A71-8800-DC05A3DC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00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8067"/>
          </a:solidFill>
          <a:ln xmlns:a="http://schemas.openxmlformats.org/drawingml/2006/main" w="0">
            <a:solidFill>
              <a:srgbClr val="6F8067"/>
            </a:solidFill>
            <a:prstDash val="solid"/>
          </a:ln>
        </p:spPr>
      </p:sp>
      <p:sp>
        <p:nvSpPr>
          <p:cNvPr id="49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B35A1957-E87F-46B3-A5C9-BB33ACB5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768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510C3F-5465-4DA5-86F5-3CFD52F5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768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41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412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1B95D3-A2D3-4EA2-9AAA-21D6D71E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7435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79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17970"/>
                </a:solidFill>
                <a:latin typeface="Aptos"/>
                <a:ea typeface="Aptos"/>
                <a:cs typeface="Aptos"/>
              </a:rPr>
              <a:t>User saves, compares, or moves to checkout with more trust.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B963AC-0DDC-4C8C-BCAE-0CC1B2F9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9144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179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7970"/>
                </a:solidFill>
                <a:latin typeface="Aptos"/>
                <a:ea typeface="Aptos"/>
                <a:cs typeface="Aptos"/>
              </a:rPr>
              <a:t>Priority fixes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7DC06C-F933-4F8D-BF50-73BB574E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383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5B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5B3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CE76F5-9CF6-4B09-B370-3D71AB67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6097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464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4642"/>
                </a:solidFill>
                <a:latin typeface="Aptos"/>
                <a:ea typeface="Aptos"/>
                <a:cs typeface="Aptos"/>
              </a:rPr>
              <a:t>Unit conversion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3D30DA-73EA-4E6C-B4F9-975FE17F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057400"/>
            <a:ext cx="110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0B522C-05C1-4744-9FA6-A4DB3D16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4193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5B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5B3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47BC7F-6CC4-4B35-BBA3-76C6AC32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9077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464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4642"/>
                </a:solidFill>
                <a:latin typeface="Aptos"/>
                <a:ea typeface="Aptos"/>
                <a:cs typeface="Aptos"/>
              </a:rPr>
              <a:t>Accuracy copy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C6863F-752C-49D6-9342-63681F89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838450"/>
            <a:ext cx="110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D62F42-B10C-4345-9BE8-FAC678A8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004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5B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5B3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1BDD7C-D968-4C33-858F-AD1A270D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718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464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4642"/>
                </a:solidFill>
                <a:latin typeface="Aptos"/>
                <a:ea typeface="Aptos"/>
                <a:cs typeface="Aptos"/>
              </a:rPr>
              <a:t>Delete confirm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44E2AD-51E6-4214-996A-687E4C05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619500"/>
            <a:ext cx="110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116FDF6-1470-4D81-9691-6422462B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1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17970"/>
                </a:solidFill>
                <a:latin typeface="Aptos"/>
                <a:ea typeface="Aptos"/>
                <a:cs typeface="Aptos"/>
              </a:rPr>
              <a:t>Source: ModelMe complete report, CSC441 Human-Computer Interface, Covenant University, June 2026.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5C7D32-E024-42E3-83EE-6B4AE13A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3415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179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17970"/>
                </a:solidFill>
                <a:latin typeface="Aptos"/>
                <a:ea typeface="Aptos"/>
                <a:cs typeface="Aptos"/>
              </a:rPr>
              <a:t>01 / 01</a:t>
            </a:r>
          </a:p>
        </p:txBody>
      </p:sp>
    </p:spTree>
    <p:extLst>
      <p:ext uri="{BB962C8B-B14F-4D97-AF65-F5344CB8AC3E}">
        <p14:creationId xmlns:p14="http://schemas.microsoft.com/office/powerpoint/2010/main" val="2120310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2026-06-08T16:20:30.6590000Z</dcterms:created>
  <dcterms:modified xsi:type="dcterms:W3CDTF">2026-06-08T16:20:30.6590000Z</dcterms:modified>
</coreProperties>
</file>